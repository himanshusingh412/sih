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Calibri (MS) Bold" charset="1" panose="020F0702030404030204"/>
      <p:regular r:id="rId15"/>
    </p:embeddedFont>
    <p:embeddedFont>
      <p:font typeface="Calibri (MS)" charset="1" panose="020F0502020204030204"/>
      <p:regular r:id="rId16"/>
    </p:embeddedFont>
    <p:embeddedFont>
      <p:font typeface="Trade Gothic Condensed Bold" charset="1" panose="020B0806040303020004"/>
      <p:regular r:id="rId17"/>
    </p:embeddedFont>
    <p:embeddedFont>
      <p:font typeface="Trade Gothic Condensed" charset="1" panose="020B0506040303020004"/>
      <p:regular r:id="rId18"/>
    </p:embeddedFont>
    <p:embeddedFont>
      <p:font typeface="Montserrat Italic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https://www.india.gov.in/category/science-it-communication/subcategory/information-technology/details/website-of-indiaai-mission?utm_source=chatgpt.com" TargetMode="External" Type="http://schemas.openxmlformats.org/officeDocument/2006/relationships/hyperlink"/><Relationship Id="rId4" Target="https://www.pib.gov.in/PressReleasePage.aspx?PRID=2291062&amp;lang=1&amp;reg=3&amp;utm_source=chatgpt.com" TargetMode="External" Type="http://schemas.openxmlformats.org/officeDocument/2006/relationships/hyperlink"/><Relationship Id="rId5" Target="https://www.pib.gov.in/PressReleasePage.aspx?PRID=2289946&amp;lang=2&amp;reg=48&amp;utm_source=chatgpt.com" TargetMode="External" Type="http://schemas.openxmlformats.org/officeDocument/2006/relationships/hyperlink"/><Relationship Id="rId6" Target="https://www.pib.gov.in/pressreleaseshare.aspx?lang=2&amp;prid=1896016&amp;reg=48&amp;utm_source=chatgpt.com" TargetMode="External" Type="http://schemas.openxmlformats.org/officeDocument/2006/relationships/hyperlink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55704" y="2657789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79638" y="2618194"/>
            <a:ext cx="9602524" cy="639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69607" indent="-334804" lvl="1">
              <a:lnSpc>
                <a:spcPts val="887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26154</a:t>
            </a:r>
          </a:p>
          <a:p>
            <a:pPr algn="just" marL="669607" indent="-334804" lvl="1">
              <a:lnSpc>
                <a:spcPts val="443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Title- </a:t>
            </a: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 AI Platform for Automated Content Transformation</a:t>
            </a:r>
          </a:p>
          <a:p>
            <a:pPr algn="just" marL="741998" indent="-370999" lvl="1">
              <a:lnSpc>
                <a:spcPts val="4920"/>
              </a:lnSpc>
              <a:buFont typeface="Arial"/>
              <a:buChar char="•"/>
            </a:pPr>
            <a:r>
              <a:rPr lang="en-US" b="true" sz="4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Theme- </a:t>
            </a:r>
            <a:r>
              <a:rPr lang="en-US" sz="4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Smart Automation</a:t>
            </a:r>
          </a:p>
          <a:p>
            <a:pPr algn="just" marL="633413" indent="-316706" lvl="1">
              <a:lnSpc>
                <a:spcPts val="84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633413" indent="-316706" lvl="1">
              <a:lnSpc>
                <a:spcPts val="84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ID-373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PHI Tech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501" y="0"/>
            <a:ext cx="16459200" cy="1595752"/>
            <a:chOff x="0" y="0"/>
            <a:chExt cx="21945600" cy="21276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127660"/>
            </a:xfrm>
            <a:custGeom>
              <a:avLst/>
              <a:gdLst/>
              <a:ahLst/>
              <a:cxnLst/>
              <a:rect r="r" b="b" t="t" l="l"/>
              <a:pathLst>
                <a:path h="21276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27660"/>
                  </a:lnTo>
                  <a:lnTo>
                    <a:pt x="0" y="21276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721" r="0" b="-13423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15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2880" y="1701956"/>
            <a:ext cx="18105120" cy="722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Our solution is an AI powered </a:t>
            </a:r>
            <a:r>
              <a:rPr lang="en-US" b="true" sz="33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content transformation platform </a:t>
            </a: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that convert a single source  - report , PDF, article , image or prompt </a:t>
            </a:r>
            <a:r>
              <a:rPr lang="en-US" b="true" sz="33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Into multi communication </a:t>
            </a: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formats. A shared content spine ensures factual consistency while allowing user to customize audience , language , detail and style across all generated output.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</a:t>
            </a:r>
            <a:r>
              <a:rPr lang="en-US" b="true" sz="33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current process </a:t>
            </a: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 converting information into different communication formats is largely manual and requires repeated effort, multiple tools, and different content-generation workflows. This </a:t>
            </a:r>
            <a:r>
              <a:rPr lang="en-US" b="true" sz="33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creates delays, increases resource requirements</a:t>
            </a: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and can introduce inconsistencies between different versions of the same information.</a:t>
            </a:r>
          </a:p>
          <a:p>
            <a:pPr algn="l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Innovation and Uniqueness:																			</a:t>
            </a:r>
          </a:p>
          <a:p>
            <a:pPr algn="l" marL="1283016" indent="-427672" lvl="2">
              <a:lnSpc>
                <a:spcPts val="396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Our AI understands the content and extracts the important information from it.</a:t>
            </a:r>
          </a:p>
          <a:p>
            <a:pPr algn="l" marL="1283016" indent="-427672" lvl="2">
              <a:lnSpc>
                <a:spcPts val="396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Our Content Spine keeps all the generated outputs consistent with the original source, reducing factual errors and information loss.</a:t>
            </a:r>
          </a:p>
          <a:p>
            <a:pPr algn="l" marL="1283016" indent="-427672" lvl="2">
              <a:lnSpc>
                <a:spcPts val="396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 are building a platform where users can upload their content once—whether it’s a PDF, report, article, image, video, or even a simple prompt.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8553" y="54131"/>
            <a:ext cx="2571750" cy="1714500"/>
            <a:chOff x="0" y="0"/>
            <a:chExt cx="3429000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29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0475" y="-228371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54074" y="2048525"/>
          <a:ext cx="6515100" cy="6720681"/>
        </p:xfrm>
        <a:graphic>
          <a:graphicData uri="http://schemas.openxmlformats.org/drawingml/2006/table">
            <a:tbl>
              <a:tblPr/>
              <a:tblGrid>
                <a:gridCol w="3257550"/>
                <a:gridCol w="3257550"/>
              </a:tblGrid>
              <a:tr h="11051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4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Layer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4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Technology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11051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Frontend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React + TypeScript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11051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Backend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Node.js + Express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1051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PostgreSQL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119486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AI Models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OpenAI/Gemini/Llama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1051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Vector Search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pgvector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78553" y="54131"/>
            <a:ext cx="2571750" cy="1714500"/>
            <a:chOff x="0" y="0"/>
            <a:chExt cx="3429000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29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78286" y="1486129"/>
            <a:ext cx="11809714" cy="8048396"/>
            <a:chOff x="0" y="0"/>
            <a:chExt cx="15746286" cy="107311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746349" cy="10731233"/>
            </a:xfrm>
            <a:custGeom>
              <a:avLst/>
              <a:gdLst/>
              <a:ahLst/>
              <a:cxnLst/>
              <a:rect r="r" b="b" t="t" l="l"/>
              <a:pathLst>
                <a:path h="10731233" w="15746349">
                  <a:moveTo>
                    <a:pt x="0" y="0"/>
                  </a:moveTo>
                  <a:lnTo>
                    <a:pt x="15746349" y="0"/>
                  </a:lnTo>
                  <a:lnTo>
                    <a:pt x="15746349" y="10731233"/>
                  </a:lnTo>
                  <a:lnTo>
                    <a:pt x="0" y="10731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13" t="0" r="-1112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02938" y="1812036"/>
            <a:ext cx="7200693" cy="3910660"/>
            <a:chOff x="0" y="0"/>
            <a:chExt cx="9600923" cy="52142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00936" cy="5214239"/>
            </a:xfrm>
            <a:custGeom>
              <a:avLst/>
              <a:gdLst/>
              <a:ahLst/>
              <a:cxnLst/>
              <a:rect r="r" b="b" t="t" l="l"/>
              <a:pathLst>
                <a:path h="5214239" w="9600936">
                  <a:moveTo>
                    <a:pt x="0" y="869061"/>
                  </a:moveTo>
                  <a:cubicBezTo>
                    <a:pt x="0" y="389128"/>
                    <a:pt x="405912" y="0"/>
                    <a:pt x="906546" y="0"/>
                  </a:cubicBezTo>
                  <a:lnTo>
                    <a:pt x="8694390" y="0"/>
                  </a:lnTo>
                  <a:cubicBezTo>
                    <a:pt x="9195024" y="0"/>
                    <a:pt x="9600936" y="389128"/>
                    <a:pt x="9600936" y="869061"/>
                  </a:cubicBezTo>
                  <a:lnTo>
                    <a:pt x="9600936" y="4345179"/>
                  </a:lnTo>
                  <a:cubicBezTo>
                    <a:pt x="9600936" y="4825112"/>
                    <a:pt x="9195024" y="5214239"/>
                    <a:pt x="8694390" y="5214239"/>
                  </a:cubicBezTo>
                  <a:lnTo>
                    <a:pt x="906546" y="5214239"/>
                  </a:lnTo>
                  <a:cubicBezTo>
                    <a:pt x="405912" y="5214239"/>
                    <a:pt x="0" y="4825111"/>
                    <a:pt x="0" y="434517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ACC6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600923" cy="5271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existing AI models, OCR, and media-processing technologies.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Modular architecture makes the platform easy to build and scale.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 be developed as a working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prototype within SIH timelines.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84395" y="1796691"/>
            <a:ext cx="7889205" cy="3956957"/>
            <a:chOff x="0" y="0"/>
            <a:chExt cx="10518940" cy="52759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8940" cy="5275955"/>
            </a:xfrm>
            <a:custGeom>
              <a:avLst/>
              <a:gdLst/>
              <a:ahLst/>
              <a:cxnLst/>
              <a:rect r="r" b="b" t="t" l="l"/>
              <a:pathLst>
                <a:path h="5275955" w="10518940">
                  <a:moveTo>
                    <a:pt x="0" y="879347"/>
                  </a:moveTo>
                  <a:cubicBezTo>
                    <a:pt x="0" y="393700"/>
                    <a:pt x="372957" y="0"/>
                    <a:pt x="833017" y="0"/>
                  </a:cubicBezTo>
                  <a:lnTo>
                    <a:pt x="9685924" y="0"/>
                  </a:lnTo>
                  <a:cubicBezTo>
                    <a:pt x="10145984" y="0"/>
                    <a:pt x="10518940" y="393700"/>
                    <a:pt x="10518940" y="879347"/>
                  </a:cubicBezTo>
                  <a:lnTo>
                    <a:pt x="10518940" y="4396608"/>
                  </a:lnTo>
                  <a:cubicBezTo>
                    <a:pt x="10518940" y="4882255"/>
                    <a:pt x="10145984" y="5275955"/>
                    <a:pt x="9685924" y="5275955"/>
                  </a:cubicBezTo>
                  <a:lnTo>
                    <a:pt x="833017" y="5275955"/>
                  </a:lnTo>
                  <a:cubicBezTo>
                    <a:pt x="372957" y="5275955"/>
                    <a:pt x="0" y="4882255"/>
                    <a:pt x="0" y="4396608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ACC6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0518940" cy="5342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Processing complex inputs like scanned PDFs, images, and videos.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Maintaining quality across different output formats.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Privacy and security of sensitive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documents.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hallucinations and factual 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inconsistencies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007635" y="6007184"/>
            <a:ext cx="7348280" cy="3457029"/>
            <a:chOff x="0" y="0"/>
            <a:chExt cx="9797707" cy="46093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97669" cy="4609334"/>
            </a:xfrm>
            <a:custGeom>
              <a:avLst/>
              <a:gdLst/>
              <a:ahLst/>
              <a:cxnLst/>
              <a:rect r="r" b="b" t="t" l="l"/>
              <a:pathLst>
                <a:path h="4609334" w="9797669">
                  <a:moveTo>
                    <a:pt x="0" y="768222"/>
                  </a:moveTo>
                  <a:cubicBezTo>
                    <a:pt x="0" y="343916"/>
                    <a:pt x="343916" y="0"/>
                    <a:pt x="768223" y="0"/>
                  </a:cubicBezTo>
                  <a:lnTo>
                    <a:pt x="9029446" y="0"/>
                  </a:lnTo>
                  <a:cubicBezTo>
                    <a:pt x="9453752" y="0"/>
                    <a:pt x="9797669" y="343916"/>
                    <a:pt x="9797669" y="768222"/>
                  </a:cubicBezTo>
                  <a:lnTo>
                    <a:pt x="9797669" y="3841112"/>
                  </a:lnTo>
                  <a:cubicBezTo>
                    <a:pt x="9797669" y="4265418"/>
                    <a:pt x="9453752" y="4609334"/>
                    <a:pt x="9029446" y="4609334"/>
                  </a:cubicBezTo>
                  <a:lnTo>
                    <a:pt x="768223" y="4609334"/>
                  </a:lnTo>
                  <a:cubicBezTo>
                    <a:pt x="343916" y="4609334"/>
                    <a:pt x="0" y="4265418"/>
                    <a:pt x="0" y="384111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ACC6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9797707" cy="466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Content Spine + Fact Lock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to maintain accuracy.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Validation layer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to detect inconsistencies before deliver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Human review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before final output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8553" y="54131"/>
            <a:ext cx="2571750" cy="1714500"/>
            <a:chOff x="0" y="0"/>
            <a:chExt cx="3429000" cy="228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29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0720352" y="8027384"/>
            <a:ext cx="1057949" cy="1015631"/>
          </a:xfrm>
          <a:custGeom>
            <a:avLst/>
            <a:gdLst/>
            <a:ahLst/>
            <a:cxnLst/>
            <a:rect r="r" b="b" t="t" l="l"/>
            <a:pathLst>
              <a:path h="1015631" w="1057949">
                <a:moveTo>
                  <a:pt x="0" y="0"/>
                </a:moveTo>
                <a:lnTo>
                  <a:pt x="1057949" y="0"/>
                </a:lnTo>
                <a:lnTo>
                  <a:pt x="1057949" y="1015631"/>
                </a:lnTo>
                <a:lnTo>
                  <a:pt x="0" y="10156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502800" y="4045255"/>
            <a:ext cx="939000" cy="1098245"/>
          </a:xfrm>
          <a:custGeom>
            <a:avLst/>
            <a:gdLst/>
            <a:ahLst/>
            <a:cxnLst/>
            <a:rect r="r" b="b" t="t" l="l"/>
            <a:pathLst>
              <a:path h="1098245" w="939000">
                <a:moveTo>
                  <a:pt x="0" y="0"/>
                </a:moveTo>
                <a:lnTo>
                  <a:pt x="939000" y="0"/>
                </a:lnTo>
                <a:lnTo>
                  <a:pt x="939000" y="1098245"/>
                </a:lnTo>
                <a:lnTo>
                  <a:pt x="0" y="10982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240000" y="4045255"/>
            <a:ext cx="1298799" cy="1298799"/>
          </a:xfrm>
          <a:custGeom>
            <a:avLst/>
            <a:gdLst/>
            <a:ahLst/>
            <a:cxnLst/>
            <a:rect r="r" b="b" t="t" l="l"/>
            <a:pathLst>
              <a:path h="1298799" w="1298799">
                <a:moveTo>
                  <a:pt x="0" y="0"/>
                </a:moveTo>
                <a:lnTo>
                  <a:pt x="1298799" y="0"/>
                </a:lnTo>
                <a:lnTo>
                  <a:pt x="1298799" y="1298799"/>
                </a:lnTo>
                <a:lnTo>
                  <a:pt x="0" y="12987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279005" y="1830437"/>
            <a:ext cx="42999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3"/>
              </a:lnSpc>
              <a:spcBef>
                <a:spcPct val="0"/>
              </a:spcBef>
            </a:pPr>
            <a:r>
              <a:rPr lang="en-US" b="true" sz="371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</a:t>
            </a:r>
            <a:r>
              <a:rPr lang="en-US" b="true" sz="371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Challenges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66696" y="1792337"/>
            <a:ext cx="487317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4"/>
              </a:lnSpc>
              <a:spcBef>
                <a:spcPct val="0"/>
              </a:spcBef>
            </a:pPr>
            <a:r>
              <a:rPr lang="en-US" b="true" sz="3812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</a:t>
            </a:r>
            <a:r>
              <a:rPr lang="en-US" b="true" sz="3812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easibility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271388" y="5969084"/>
            <a:ext cx="500761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b="true" sz="367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</a:t>
            </a:r>
            <a:r>
              <a:rPr lang="en-US" b="true" sz="367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ur Approach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8553" y="54131"/>
            <a:ext cx="2571750" cy="1714500"/>
            <a:chOff x="0" y="0"/>
            <a:chExt cx="3429000" cy="228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29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028700" y="1768631"/>
            <a:ext cx="7280131" cy="7280131"/>
          </a:xfrm>
          <a:custGeom>
            <a:avLst/>
            <a:gdLst/>
            <a:ahLst/>
            <a:cxnLst/>
            <a:rect r="r" b="b" t="t" l="l"/>
            <a:pathLst>
              <a:path h="7280131" w="7280131">
                <a:moveTo>
                  <a:pt x="0" y="0"/>
                </a:moveTo>
                <a:lnTo>
                  <a:pt x="7280131" y="0"/>
                </a:lnTo>
                <a:lnTo>
                  <a:pt x="7280131" y="7280131"/>
                </a:lnTo>
                <a:lnTo>
                  <a:pt x="0" y="72801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936017" y="1768631"/>
            <a:ext cx="7280131" cy="7280131"/>
          </a:xfrm>
          <a:custGeom>
            <a:avLst/>
            <a:gdLst/>
            <a:ahLst/>
            <a:cxnLst/>
            <a:rect r="r" b="b" t="t" l="l"/>
            <a:pathLst>
              <a:path h="7280131" w="7280131">
                <a:moveTo>
                  <a:pt x="0" y="0"/>
                </a:moveTo>
                <a:lnTo>
                  <a:pt x="7280132" y="0"/>
                </a:lnTo>
                <a:lnTo>
                  <a:pt x="7280132" y="7280131"/>
                </a:lnTo>
                <a:lnTo>
                  <a:pt x="0" y="72801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154346" y="4252664"/>
            <a:ext cx="1781671" cy="1781671"/>
          </a:xfrm>
          <a:custGeom>
            <a:avLst/>
            <a:gdLst/>
            <a:ahLst/>
            <a:cxnLst/>
            <a:rect r="r" b="b" t="t" l="l"/>
            <a:pathLst>
              <a:path h="1781671" w="1781671">
                <a:moveTo>
                  <a:pt x="0" y="0"/>
                </a:moveTo>
                <a:lnTo>
                  <a:pt x="1781671" y="0"/>
                </a:lnTo>
                <a:lnTo>
                  <a:pt x="1781671" y="1781672"/>
                </a:lnTo>
                <a:lnTo>
                  <a:pt x="0" y="17816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464578" y="7526469"/>
            <a:ext cx="1015444" cy="1160508"/>
          </a:xfrm>
          <a:custGeom>
            <a:avLst/>
            <a:gdLst/>
            <a:ahLst/>
            <a:cxnLst/>
            <a:rect r="r" b="b" t="t" l="l"/>
            <a:pathLst>
              <a:path h="1160508" w="1015444">
                <a:moveTo>
                  <a:pt x="0" y="0"/>
                </a:moveTo>
                <a:lnTo>
                  <a:pt x="1015444" y="0"/>
                </a:lnTo>
                <a:lnTo>
                  <a:pt x="1015444" y="1160507"/>
                </a:lnTo>
                <a:lnTo>
                  <a:pt x="0" y="11605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811557" y="7341992"/>
            <a:ext cx="1545959" cy="1344984"/>
          </a:xfrm>
          <a:custGeom>
            <a:avLst/>
            <a:gdLst/>
            <a:ahLst/>
            <a:cxnLst/>
            <a:rect r="r" b="b" t="t" l="l"/>
            <a:pathLst>
              <a:path h="1344984" w="1545959">
                <a:moveTo>
                  <a:pt x="0" y="0"/>
                </a:moveTo>
                <a:lnTo>
                  <a:pt x="1545959" y="0"/>
                </a:lnTo>
                <a:lnTo>
                  <a:pt x="1545959" y="1344984"/>
                </a:lnTo>
                <a:lnTo>
                  <a:pt x="0" y="13449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94086" y="2027978"/>
            <a:ext cx="583319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  <a:spcBef>
                <a:spcPct val="0"/>
              </a:spcBef>
            </a:pPr>
            <a:r>
              <a:rPr lang="en-US" sz="460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Potential Impact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59485" y="2027978"/>
            <a:ext cx="583319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  <a:spcBef>
                <a:spcPct val="0"/>
              </a:spcBef>
            </a:pPr>
            <a:r>
              <a:rPr lang="en-US" sz="460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Key benefits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5953" y="2923328"/>
            <a:ext cx="6609463" cy="5183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627" indent="-332814" lvl="1">
              <a:lnSpc>
                <a:spcPts val="3699"/>
              </a:lnSpc>
              <a:buFont typeface="Arial"/>
              <a:buChar char="•"/>
            </a:pPr>
            <a:r>
              <a:rPr lang="en-US" sz="30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Helps organisation turn information into useful communication much faster</a:t>
            </a:r>
          </a:p>
          <a:p>
            <a:pPr algn="l" marL="665627" indent="-332814" lvl="1">
              <a:lnSpc>
                <a:spcPts val="3699"/>
              </a:lnSpc>
              <a:buFont typeface="Arial"/>
              <a:buChar char="•"/>
            </a:pPr>
            <a:r>
              <a:rPr lang="en-US" sz="30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repetitive manual work for content and communication teams.</a:t>
            </a:r>
          </a:p>
          <a:p>
            <a:pPr algn="l" marL="665627" indent="-332814" lvl="1">
              <a:lnSpc>
                <a:spcPts val="3699"/>
              </a:lnSpc>
              <a:buFont typeface="Arial"/>
              <a:buChar char="•"/>
            </a:pPr>
            <a:r>
              <a:rPr lang="en-US" sz="30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Makes communication more consistent, accurate and audience friendly.</a:t>
            </a:r>
          </a:p>
          <a:p>
            <a:pPr algn="l" marL="665627" indent="-332814" lvl="1">
              <a:lnSpc>
                <a:spcPts val="3699"/>
              </a:lnSpc>
              <a:buFont typeface="Arial"/>
              <a:buChar char="•"/>
            </a:pPr>
            <a:r>
              <a:rPr lang="en-US" sz="30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Useful for government, enterprises, research, cybersecurity and</a:t>
            </a:r>
          </a:p>
          <a:p>
            <a:pPr algn="l">
              <a:lnSpc>
                <a:spcPts val="3699"/>
              </a:lnSpc>
            </a:pPr>
            <a:r>
              <a:rPr lang="en-US" sz="30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media teams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74142" y="3094778"/>
            <a:ext cx="6609463" cy="471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627" indent="-332814" lvl="1">
              <a:lnSpc>
                <a:spcPts val="3699"/>
              </a:lnSpc>
              <a:buFont typeface="Arial"/>
              <a:buChar char="•"/>
            </a:pPr>
            <a:r>
              <a:rPr lang="en-US" sz="30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Social: Faster and clearer public communication</a:t>
            </a:r>
          </a:p>
          <a:p>
            <a:pPr algn="l" marL="665627" indent="-332814" lvl="1">
              <a:lnSpc>
                <a:spcPts val="3699"/>
              </a:lnSpc>
              <a:buFont typeface="Arial"/>
              <a:buChar char="•"/>
            </a:pPr>
            <a:r>
              <a:rPr lang="en-US" sz="30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Economic: Saves time ,manpower and content-production costs.</a:t>
            </a:r>
          </a:p>
          <a:p>
            <a:pPr algn="l" marL="665627" indent="-332814" lvl="1">
              <a:lnSpc>
                <a:spcPts val="3699"/>
              </a:lnSpc>
              <a:buFont typeface="Arial"/>
              <a:buChar char="•"/>
            </a:pPr>
            <a:r>
              <a:rPr lang="en-US" sz="30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Operational: One source can generate multiple outputs in minutes.</a:t>
            </a:r>
          </a:p>
          <a:p>
            <a:pPr algn="l" marL="665627" indent="-332814" lvl="1">
              <a:lnSpc>
                <a:spcPts val="3699"/>
              </a:lnSpc>
              <a:buFont typeface="Arial"/>
              <a:buChar char="•"/>
            </a:pPr>
            <a:r>
              <a:rPr lang="en-US" sz="30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Environmental: Reduces paper-based workflows and unnecessary resourse consumption.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9695" y="2201837"/>
            <a:ext cx="16225990" cy="5886240"/>
            <a:chOff x="0" y="0"/>
            <a:chExt cx="21634653" cy="7848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634704" cy="7848346"/>
            </a:xfrm>
            <a:custGeom>
              <a:avLst/>
              <a:gdLst/>
              <a:ahLst/>
              <a:cxnLst/>
              <a:rect r="r" b="b" t="t" l="l"/>
              <a:pathLst>
                <a:path h="7848346" w="21634704">
                  <a:moveTo>
                    <a:pt x="0" y="1308100"/>
                  </a:moveTo>
                  <a:cubicBezTo>
                    <a:pt x="0" y="585597"/>
                    <a:pt x="585597" y="0"/>
                    <a:pt x="1308100" y="0"/>
                  </a:cubicBezTo>
                  <a:lnTo>
                    <a:pt x="20326604" y="0"/>
                  </a:lnTo>
                  <a:cubicBezTo>
                    <a:pt x="21048980" y="0"/>
                    <a:pt x="21634704" y="585597"/>
                    <a:pt x="21634704" y="1308100"/>
                  </a:cubicBezTo>
                  <a:lnTo>
                    <a:pt x="21634704" y="6540246"/>
                  </a:lnTo>
                  <a:cubicBezTo>
                    <a:pt x="21634704" y="7262622"/>
                    <a:pt x="21049107" y="7848346"/>
                    <a:pt x="20326604" y="7848346"/>
                  </a:cubicBezTo>
                  <a:lnTo>
                    <a:pt x="1308100" y="7848346"/>
                  </a:lnTo>
                  <a:cubicBezTo>
                    <a:pt x="585724" y="7848346"/>
                    <a:pt x="0" y="7262749"/>
                    <a:pt x="0" y="654024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ACC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634653" cy="791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42925" indent="-271462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IndiaAI Mission – Government of India: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Reference for India’s national AI ecosystem, AI applications, innovation, and responsible AI. </a:t>
              </a:r>
              <a:r>
                <a:rPr lang="en-US" sz="3000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3" tooltip="https://www.india.gov.in/category/science-it-communication/subcategory/information-technology/details/website-of-indiaai-mission?utm_source=chatgpt.com"/>
                </a:rPr>
                <a:t>IndiaAI Mission – Government of India</a:t>
              </a:r>
            </a:p>
            <a:p>
              <a:pPr algn="l" marL="542925" indent="-271462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IndiaAI &amp; AI-driven Governance – MeitY/PIB: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Government initiatives around AI adoption across ministries and public-service use cases. </a:t>
              </a:r>
              <a:r>
                <a:rPr lang="en-US" sz="3000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4" tooltip="https://www.pib.gov.in/PressReleasePage.aspx?PRID=2291062&amp;lang=1&amp;reg=3&amp;utm_source=chatgpt.com"/>
                </a:rPr>
                <a:t>AI-driven Governance and Public Service Delivery – PIB</a:t>
              </a:r>
            </a:p>
            <a:p>
              <a:pPr algn="l" marL="542925" indent="-271462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IndiaAI Safe &amp; Trusted AI – MeitY/PIB: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Reference for trustworthy, explainable, privacy-preserving and responsible AI—directly relevant to our 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Content Spine and validation layer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 </a:t>
              </a:r>
              <a:r>
                <a:rPr lang="en-US" sz="3000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5" tooltip="https://www.pib.gov.in/PressReleasePage.aspx?PRID=2289946&amp;lang=2&amp;reg=48&amp;utm_source=chatgpt.com"/>
                </a:rPr>
                <a:t>Safe &amp; Trusted AI – PIB</a:t>
              </a:r>
            </a:p>
            <a:p>
              <a:pPr algn="l" marL="542925" indent="-271462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Generative AI – MeitY/PIB: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Government reference explaining Generative AI's ability to create new content from text, audio and images. </a:t>
              </a:r>
              <a:r>
                <a:rPr lang="en-US" sz="3000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6" tooltip="https://www.pib.gov.in/pressreleaseshare.aspx?lang=2&amp;prid=1896016&amp;reg=48&amp;utm_source=chatgpt.com"/>
                </a:rPr>
                <a:t>Generative Artificial Intelligence – PIB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8553" y="54131"/>
            <a:ext cx="2571750" cy="1714500"/>
            <a:chOff x="0" y="0"/>
            <a:chExt cx="3429000" cy="228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29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DAHTOclhpM4</dc:identifier>
  <dcterms:modified xsi:type="dcterms:W3CDTF">2011-08-01T06:04:30Z</dcterms:modified>
  <cp:revision>1</cp:revision>
  <dc:title>SIH 2026</dc:title>
</cp:coreProperties>
</file>